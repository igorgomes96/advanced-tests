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Helvetica Neue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HelveticaNeue-bold.fntdata"/><Relationship Id="rId14" Type="http://schemas.openxmlformats.org/officeDocument/2006/relationships/slide" Target="slides/slide9.xml"/><Relationship Id="rId36" Type="http://schemas.openxmlformats.org/officeDocument/2006/relationships/font" Target="fonts/HelveticaNeue-regular.fntdata"/><Relationship Id="rId17" Type="http://schemas.openxmlformats.org/officeDocument/2006/relationships/slide" Target="slides/slide12.xml"/><Relationship Id="rId39" Type="http://schemas.openxmlformats.org/officeDocument/2006/relationships/font" Target="fonts/HelveticaNeue-boldItalic.fntdata"/><Relationship Id="rId16" Type="http://schemas.openxmlformats.org/officeDocument/2006/relationships/slide" Target="slides/slide11.xml"/><Relationship Id="rId38" Type="http://schemas.openxmlformats.org/officeDocument/2006/relationships/font" Target="fonts/HelveticaNeue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a885ffd2a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a885ffd2a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0a82cfb9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0a82cfb9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ae4979f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ae4979f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ae4979f3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ae4979f3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ae4979f3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ae4979f3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b29d913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b29d913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11ec78a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11ec78a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11ec78ad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11ec78ad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11ec78ad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11ec78ad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2cc704f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2cc704f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2cc704f2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2cc704f2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2cc704f2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2cc704f2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2cc704f2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2cc704f2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509074b9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509074b9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a1573a4a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a1573a4a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c32c68e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c32c68e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c32c68ea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c32c68ea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c32c68ea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c32c68ea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c32c68ea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c32c68ea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e223bd7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e223bd7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e223bd75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e223bd7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e762e9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fe762e9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fe762e98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fe762e9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fe762e98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5fe762e98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0513d83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0513d83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0513d83d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0513d83d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0513d83d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0513d83d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0513d83d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0513d83d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84acc02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684acc02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84acc022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684acc022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97700" y="1876800"/>
            <a:ext cx="75486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Avançados</a:t>
            </a:r>
            <a:endParaRPr b="1" sz="42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Padrões, tipos e ferramentas</a:t>
            </a:r>
            <a:endParaRPr b="1" sz="3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427425" y="1245550"/>
            <a:ext cx="78228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Data Builder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Fixture e Parametrização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Mutação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Benchmarking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Carga e Stress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de Regressão Automatizados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de Integridade</a:t>
            </a: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Dados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Concorrentes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Data Builder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373950" y="1563600"/>
            <a:ext cx="8282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Instanciar objetos para serem testados pode ser algo complexo.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Data Builder: o padrão Builder aplicado para objetos a serem testados.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Growing Object-Oriented Software, Guided by Tests (Steve Freeman e Nat Pryce)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que o padrão builder?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Data Builder: Motivaç</a:t>
            </a: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ões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427425" y="1245550"/>
            <a:ext cx="7822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devem ser legíveis, devem expressar suas intenções claramente.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Isso facilita a manutenção.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smells: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Nomes que n</a:t>
            </a: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ão significam nada.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■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test1, test2, cancel1, cancel1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Métodos que testam várias funcionalidades.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Falta de padronização.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com muito setup.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</a:pPr>
            <a:r>
              <a:rPr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com valores literais (“magic numbers”) que não tem nada a ver com o teste.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Data Builder: Motivações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13" y="1866900"/>
            <a:ext cx="521017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Fixtures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373950" y="1563600"/>
            <a:ext cx="8282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São utilizados para preparar o ambiente para os testes: “Setup/Teardown”.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Instanciar objetos utilizados em vários test cases (inputs, mocks, fakes).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Configurar dependências.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Adicionar/remover registros de um banco de dados.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Copiar arquivos para um diretório específico.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Mutantes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373950" y="1359288"/>
            <a:ext cx="8282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 a qualidade dos seus testes.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Alterações no código devem causar falha nos testes.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500" y="2559520"/>
            <a:ext cx="4926000" cy="51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2500" y="3467450"/>
            <a:ext cx="4926000" cy="49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9"/>
          <p:cNvCxnSpPr/>
          <p:nvPr/>
        </p:nvCxnSpPr>
        <p:spPr>
          <a:xfrm>
            <a:off x="4265499" y="3136262"/>
            <a:ext cx="0" cy="271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Mutantes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713" y="1042875"/>
            <a:ext cx="7396574" cy="14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725" y="3070348"/>
            <a:ext cx="7396549" cy="13583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20"/>
          <p:cNvCxnSpPr/>
          <p:nvPr/>
        </p:nvCxnSpPr>
        <p:spPr>
          <a:xfrm>
            <a:off x="4585300" y="2644025"/>
            <a:ext cx="0" cy="27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Mutantes: como funciona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373950" y="1563600"/>
            <a:ext cx="8282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Uma alteração é introduzida no código, criando assim um “mutante”.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testes são executados.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algum teste falhar, o “mutante” foi eliminado.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todos os testes passarem, o “mutante” sobreviveu.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objetivo é minimizar o números de “mutantes” sobreviventes.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 de Carga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430650" y="1314000"/>
            <a:ext cx="82827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 avaliarmos como o sistema se comporta sob condições normais de uso ou durantes picos de acesso.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Mais especificamente, testes de carga nos permitem: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Validar capacidade e escalabilidade da aplicação.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Verificar se o tempo de resposta e throughput são aceitáveis.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Identificar gargalos.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Simular cenários.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 de Carga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23"/>
          <p:cNvSpPr txBox="1"/>
          <p:nvPr/>
        </p:nvSpPr>
        <p:spPr>
          <a:xfrm>
            <a:off x="329375" y="1198125"/>
            <a:ext cx="82827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Métricas mais comuns: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Tempo de resposta médio e percentis (P95 e P99)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■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P95 = 500ms significa que 95% das requisições tiveram tempo de resposta menor ou igual a 500ms.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Taxa de throughput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Taxa de erro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Utilização de CPU, memória e rede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Número de usuários simultâneos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 de Carga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24"/>
          <p:cNvSpPr txBox="1"/>
          <p:nvPr/>
        </p:nvSpPr>
        <p:spPr>
          <a:xfrm>
            <a:off x="329375" y="1198125"/>
            <a:ext cx="82827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Antes de preparar os testes de carga, considere: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utilização real do sistema.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■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Quantos usuários?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■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eles acessam com mais frequência?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limites aceitáveis.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ambiente isolado e monitorado.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Dados realistas.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 de Estresse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329375" y="1198125"/>
            <a:ext cx="82827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 identificar os limites do sistema, o “ponto de quebra”.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Perguntas que podem ser respondidas: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Até onde meu sistema aguenta?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qual momento os erros começam a surgir?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 endpoint falha primeiro?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sistema se recupera sozinho?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Algum circuit breaker entra em ação?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utilização de recursos aumenta de forma proporcional ao aumento de carga?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 de Estresse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329375" y="1198125"/>
            <a:ext cx="82827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Métricas mais comuns: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Tempo de resposta médio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Taxa de erro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Throughput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Utilização de CPU, memória e rede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Número de usuários simultâneos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Benchmarking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347200" y="1563600"/>
            <a:ext cx="8282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Comparação de desempenho.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Objetivos: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Comparar antes e depois de otimizações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Comparar desempenho em diferentes ambientes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Ajudar na escolha de uma tecnologia ou ferramenta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Benchmarking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5575"/>
            <a:ext cx="8839200" cy="303969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 txBox="1"/>
          <p:nvPr/>
        </p:nvSpPr>
        <p:spPr>
          <a:xfrm>
            <a:off x="430650" y="4657025"/>
            <a:ext cx="828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Fonte: https://grafana-dot-grpc-testing.appspot.com/?orgId=1</a:t>
            </a:r>
            <a:endParaRPr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Benchmarking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688" y="1075088"/>
            <a:ext cx="4852625" cy="29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/>
        </p:nvSpPr>
        <p:spPr>
          <a:xfrm>
            <a:off x="430650" y="4701400"/>
            <a:ext cx="828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Fonte: </a:t>
            </a:r>
            <a:r>
              <a:rPr i="1"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https://www.databasebenchmarks.net/benchmark-charts.html/?aws</a:t>
            </a:r>
            <a:endParaRPr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Benchmarking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375" y="911425"/>
            <a:ext cx="5959248" cy="386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0"/>
          <p:cNvSpPr txBox="1"/>
          <p:nvPr/>
        </p:nvSpPr>
        <p:spPr>
          <a:xfrm>
            <a:off x="430650" y="4701400"/>
            <a:ext cx="828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Fonte: </a:t>
            </a:r>
            <a:r>
              <a:rPr i="1"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https://github.com/dotnet/BenchmarkDotNet</a:t>
            </a:r>
            <a:endParaRPr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Benchmarking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0" y="1215375"/>
            <a:ext cx="419100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725" y="2998875"/>
            <a:ext cx="2876550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1"/>
          <p:cNvSpPr txBox="1"/>
          <p:nvPr/>
        </p:nvSpPr>
        <p:spPr>
          <a:xfrm>
            <a:off x="430650" y="4701400"/>
            <a:ext cx="828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Fonte: </a:t>
            </a:r>
            <a:r>
              <a:rPr i="1" lang="pt-BR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https://devblogs.microsoft.com/dotnet/performance-improvements-in-net-9/</a:t>
            </a:r>
            <a:endParaRPr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 de Regress</a:t>
            </a: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ão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61275" y="1367250"/>
            <a:ext cx="82827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Regressão: bugs que em uma funcionalidade existente após uma alteração no código (uma nova feature, refatoração, etc).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 de regressão: testes realizados em funcionalidades já existentes no software a fim de certificar que continuam funcionando.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 progressivo: testes da feature que acabou de ser implementada e será implantada em breve.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 de Regressão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33"/>
          <p:cNvSpPr txBox="1"/>
          <p:nvPr/>
        </p:nvSpPr>
        <p:spPr>
          <a:xfrm>
            <a:off x="430650" y="1367250"/>
            <a:ext cx="82827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São inviáveis sem automatização.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 automatização, os testes progressivos se tornam testes de regressão à medida que o software evolui.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Englobam todos os tipos de testes: unitários, integrados, e2e, manuais, etc.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Última barreira de proteção antes da implantação.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execução automatizada em um esteira de CI/CD é altamente recomendada.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de Concorr</a:t>
            </a: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ência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34"/>
          <p:cNvSpPr txBox="1"/>
          <p:nvPr/>
        </p:nvSpPr>
        <p:spPr>
          <a:xfrm>
            <a:off x="430650" y="1367250"/>
            <a:ext cx="8282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 o comportamento de um sistema quando múltiplos processos ou threads executam uma determinada operação simultaneamente.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Integridade dos dados (race condition)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Sincronização adequada (locks, semáforos)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Detecção de deadlocks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de Concorrência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6" name="Google Shape;1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938" y="973825"/>
            <a:ext cx="5972130" cy="386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de Concorrência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36"/>
          <p:cNvSpPr txBox="1"/>
          <p:nvPr/>
        </p:nvSpPr>
        <p:spPr>
          <a:xfrm>
            <a:off x="430650" y="1367250"/>
            <a:ext cx="82827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AutoNum type="arabicPeriod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Identifique os pontos críticos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AutoNum type="alphaLcPeriod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Essa operaç</a:t>
            </a: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ão acessa um recurso compartilhado?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AutoNum type="alphaLcPeriod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Ela realiza uma ação que depende de uma verificação prévia?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AutoNum type="alphaLcPeriod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for executada em paralelo, o resultado variar?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AutoNum type="arabicPeriod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Defina um estado inicial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AutoNum type="arabicPeriod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Simule a concorrência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AutoNum type="arabicPeriod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Verifique o resultado esperado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de Integridade de Dados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37"/>
          <p:cNvSpPr txBox="1"/>
          <p:nvPr/>
        </p:nvSpPr>
        <p:spPr>
          <a:xfrm>
            <a:off x="430650" y="1367250"/>
            <a:ext cx="8282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●"/>
            </a:pPr>
            <a:r>
              <a:rPr lang="pt-BR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Dados corretos, completos, consistentes e confiáveis.</a:t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●"/>
            </a:pPr>
            <a:r>
              <a:rPr lang="pt-BR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dados representam a realidade que eles modelam.</a:t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●"/>
            </a:pPr>
            <a:r>
              <a:rPr lang="pt-BR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estão em conflito.</a:t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●"/>
            </a:pPr>
            <a:r>
              <a:rPr lang="pt-BR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Seguem as regras do domínio da aplicação.</a:t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●"/>
            </a:pPr>
            <a:r>
              <a:rPr lang="pt-BR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foram corrompidos ou perdidos.</a:t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Testes de Integridade de Dados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38"/>
          <p:cNvSpPr txBox="1"/>
          <p:nvPr/>
        </p:nvSpPr>
        <p:spPr>
          <a:xfrm>
            <a:off x="430650" y="1367250"/>
            <a:ext cx="8282700" cy="28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Nós procuramos modelar nossas aplicações de forma a manter um estado sempre consistente.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isso utilizamos abordagens como DDD ao criar o modelo do nosso domínio.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Todavia, a integridade de dados vai além disso.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Abrange a consistência dos dados durante todo seu ciclo de vida e mesmo dados compartilhados entre diferentes sistemas ou serviços.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Quando realizar os testes de integridade de dados?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39"/>
          <p:cNvSpPr txBox="1"/>
          <p:nvPr/>
        </p:nvSpPr>
        <p:spPr>
          <a:xfrm>
            <a:off x="430650" y="1367250"/>
            <a:ext cx="8282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Durante desenvolvimento.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Antes do deploy.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Após o deploy.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Durante migração de sistemas.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Auditorias periódicas.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Quem realiza </a:t>
            </a: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testes de integridade de dados?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p40"/>
          <p:cNvSpPr txBox="1"/>
          <p:nvPr/>
        </p:nvSpPr>
        <p:spPr>
          <a:xfrm>
            <a:off x="430650" y="1367250"/>
            <a:ext cx="8282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Desenvolvedores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QA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DBA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Cientistas de dados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Auditores externos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Transações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2" name="Google Shape;232;p41"/>
          <p:cNvSpPr txBox="1"/>
          <p:nvPr/>
        </p:nvSpPr>
        <p:spPr>
          <a:xfrm>
            <a:off x="430650" y="1367250"/>
            <a:ext cx="8282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Possuem 4 propriedades fundamentais: ACID.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Atomicidade: operação acontece por completo, ou não acontece.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Consistência: os dados devem permanecer válidos depois das transações.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Isolamento: transações concorrentes não devem interferir entre si.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Durabilidade: uma transação concluída</a:t>
            </a:r>
            <a:r>
              <a:rPr i="1"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será perdida.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/>
        </p:nvSpPr>
        <p:spPr>
          <a:xfrm>
            <a:off x="798000" y="481225"/>
            <a:ext cx="75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CD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Outros conceitos importantes</a:t>
            </a:r>
            <a:endParaRPr b="1" sz="2000">
              <a:solidFill>
                <a:srgbClr val="FFCD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42"/>
          <p:cNvSpPr txBox="1"/>
          <p:nvPr/>
        </p:nvSpPr>
        <p:spPr>
          <a:xfrm>
            <a:off x="430650" y="1367250"/>
            <a:ext cx="82827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Integridade referencial.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Controle de concorr</a:t>
            </a: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ência.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●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Consistência eventual.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 garantir transações de DB + envio de eventos em uma única unidade de trabalho?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Outbox pattern + CDC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Event Sourcing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Saga pattern</a:t>
            </a:r>
            <a:endParaRPr sz="1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